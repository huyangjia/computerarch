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2"/>
    <p:sldId id="304" r:id="rId3"/>
    <p:sldId id="325" r:id="rId4"/>
    <p:sldId id="326" r:id="rId5"/>
    <p:sldId id="327" r:id="rId6"/>
    <p:sldId id="329" r:id="rId7"/>
    <p:sldId id="328" r:id="rId8"/>
    <p:sldId id="330" r:id="rId9"/>
    <p:sldId id="332" r:id="rId10"/>
    <p:sldId id="333" r:id="rId11"/>
    <p:sldId id="324" r:id="rId12"/>
    <p:sldId id="288" r:id="rId13"/>
    <p:sldId id="270" r:id="rId14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91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1BB98-4E2B-4DFC-8F3B-BFA2DD532A8F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4C09E-AE62-4B98-BCFC-D22FB29322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B24F-3E02-978F-536F-06C4651E4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F3834-32A8-14A1-8406-EBC623A1F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55F20-70C3-6156-41AD-B1F5AA84C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79F96-5A1E-8ADA-187E-E154FA921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52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E344-E44E-2FCB-449B-12B9AA18A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4DC10-7435-3192-552B-767CB2B1F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87D09-144A-00BE-ABB7-C28A886F5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AB247-F752-0130-58F3-6DDCC221F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736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B7006-FF74-6DF1-2BC8-964DBF82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9AAB9-0DFD-BC78-3E8A-8E1DEF882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B7768-6DDC-50E7-3C50-9BB6AD7A3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AEF9B-A2EB-B0AB-B71C-7258C1886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6997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742BC-B1CB-E36F-8232-197FD02C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22E41-9B7E-15AF-3D05-4DA8E054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54AAB-C28C-F61B-9D2C-183B0DF06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FB258-1D6A-0191-1B30-1674E5B8A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350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D4D91-2109-9DB2-6AB4-5D606E8F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3CE0B-0395-073E-5BBA-C76165108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58520-3A6F-F080-1452-F63E772F0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1C08E-1EE8-96D5-F489-7F1013286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615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AF929-688E-CFD0-0436-C987E098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6810F-E59D-3178-4A75-0214A485C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85A24-C2CF-B1D8-950F-A567EF074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2122B-6C75-4D02-C2CD-EF43E296B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3052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3CA41-A680-8202-1FEF-94138091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E47CE-10D3-7BA0-8DF1-3EBDF11CF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AD8DD-9AEB-6A8F-79D7-02146D8F1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0F7EC-8085-2171-C3F1-096B53783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9662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E795B-CF85-160E-5D64-1E6826AA3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CEB20-FFC4-1673-825A-B96BA92C3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F64B9-C598-ACC2-FB47-B5C9D16DE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98D4F-7485-BF12-DA51-AFC21D191D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857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20E0F-56D3-6046-12DA-D12DAF72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96400-4E08-72A9-AA82-B21FE58DE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665AD-DBFC-6F0D-34C2-1CE44E005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D2883-8BD6-B03D-D920-A04EA0F12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672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0976C-AFB7-1EC6-EFFB-CB0AC9B1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718CB-9C6B-EACA-5226-DB7CEEA1D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4DE9E-1F56-36A8-1236-A0C734887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91003-59FA-60AA-0231-4C28BC3E7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9172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121212"/>
              </a:solidFill>
              <a:latin typeface="-apple-syste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2450A4-3BB0-49D4-9997-DE3404AA072D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72D1C8-D195-4DBC-B7C2-24FBAD4CE97E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标题 3"/>
          <p:cNvSpPr txBox="1"/>
          <p:nvPr userDrawn="1"/>
        </p:nvSpPr>
        <p:spPr>
          <a:xfrm>
            <a:off x="0" y="3"/>
            <a:ext cx="9144000" cy="755581"/>
          </a:xfrm>
          <a:prstGeom prst="rect">
            <a:avLst/>
          </a:prstGeom>
          <a:solidFill>
            <a:srgbClr val="02409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tIns="0" bIns="0" anchor="ctr"/>
          <a:lstStyle/>
          <a:p>
            <a:pPr algn="ctr">
              <a:spcBef>
                <a:spcPct val="0"/>
              </a:spcBef>
              <a:defRPr/>
            </a:pPr>
            <a:endParaRPr lang="en-US" altLang="zh-CN" sz="247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>
          <a:xfrm>
            <a:off x="122702" y="71134"/>
            <a:ext cx="6594329" cy="613314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椭圆 40"/>
          <p:cNvSpPr/>
          <p:nvPr userDrawn="1"/>
        </p:nvSpPr>
        <p:spPr>
          <a:xfrm>
            <a:off x="8535762" y="6310400"/>
            <a:ext cx="469448" cy="457026"/>
          </a:xfrm>
          <a:prstGeom prst="ellipse">
            <a:avLst/>
          </a:prstGeom>
          <a:solidFill>
            <a:srgbClr val="02409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0250" tIns="20250" rIns="20250" bIns="2025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fld id="{90AA6819-7E7F-4C14-8B24-A68214AB9022}" type="slidenum">
              <a:rPr lang="zh-CN" altLang="en-US" sz="675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67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/>
          <a:srcRect l="8177" t="2247" r="9531" b="2992"/>
          <a:stretch>
            <a:fillRect/>
          </a:stretch>
        </p:blipFill>
        <p:spPr>
          <a:xfrm>
            <a:off x="8408701" y="83713"/>
            <a:ext cx="596509" cy="588159"/>
          </a:xfrm>
          <a:prstGeom prst="ellipse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B6029-2117-496C-91CB-5ACC12217919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0F854-4B71-405E-9133-6D6E4DA078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/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/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</a:t>
              </a:r>
              <a:endParaRPr lang="en-US" altLang="zh-CN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882962" y="2767280"/>
            <a:ext cx="537807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Lab6</a:t>
            </a: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实验讲解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sz="3200" b="1" dirty="0"/>
              <a:t>Attention</a:t>
            </a:r>
            <a:r>
              <a:rPr lang="zh-CN" altLang="en-US" sz="3200" b="1" dirty="0"/>
              <a:t>简介</a:t>
            </a:r>
            <a:r>
              <a:rPr lang="en-US" altLang="zh-CN" sz="3200" b="1" dirty="0"/>
              <a:t>+Flash attention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E9AC-AEBC-024A-C6FA-DAED6DBE3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>
            <a:extLst>
              <a:ext uri="{FF2B5EF4-FFF2-40B4-BE49-F238E27FC236}">
                <a16:creationId xmlns:a16="http://schemas.microsoft.com/office/drawing/2014/main" id="{0446DC8A-6233-78C3-8718-9A729272733C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F9F6F8CA-9BEB-B552-7E22-DDD437F36462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A11A24B-E22F-83A8-0BA5-9A6035339033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attention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简介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7037E67D-1915-B547-5A6B-5EBEB3ADC42B}"/>
              </a:ext>
            </a:extLst>
          </p:cNvPr>
          <p:cNvSpPr/>
          <p:nvPr/>
        </p:nvSpPr>
        <p:spPr>
          <a:xfrm>
            <a:off x="138564" y="848265"/>
            <a:ext cx="1549527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7BBF87-B721-0C8A-D662-522B11C8406B}"/>
              </a:ext>
            </a:extLst>
          </p:cNvPr>
          <p:cNvSpPr/>
          <p:nvPr/>
        </p:nvSpPr>
        <p:spPr>
          <a:xfrm>
            <a:off x="293866" y="1266456"/>
            <a:ext cx="8342957" cy="3003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参考资料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Illustrated Transformer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https://jalammar.github.io/illustrated-transformer/ 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Attention Is All You Need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https://arxiv.org/abs/1706.03762 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772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BC7F-96FB-C5C8-9153-AD94CD0A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EF4FC03-F959-74F2-CFF2-3E85AEF2FF77}"/>
              </a:ext>
            </a:extLst>
          </p:cNvPr>
          <p:cNvGrpSpPr/>
          <p:nvPr/>
        </p:nvGrpSpPr>
        <p:grpSpPr>
          <a:xfrm>
            <a:off x="2948030" y="1536408"/>
            <a:ext cx="6051485" cy="4975076"/>
            <a:chOff x="439531" y="0"/>
            <a:chExt cx="4125067" cy="384090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EC63AB9-98C7-944F-4575-739BEED7B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31" y="56411"/>
              <a:ext cx="2933700" cy="3776980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E2AF862-0578-2E8F-05D4-7DD5ABA71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9803" y="0"/>
              <a:ext cx="1534795" cy="19177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4B4C279-631B-6112-88E2-B08994BCB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809" y="1972101"/>
              <a:ext cx="1377950" cy="1868805"/>
            </a:xfrm>
            <a:prstGeom prst="rect">
              <a:avLst/>
            </a:prstGeom>
          </p:spPr>
        </p:pic>
      </p:grpSp>
      <p:grpSp>
        <p:nvGrpSpPr>
          <p:cNvPr id="16" name="组合 52">
            <a:extLst>
              <a:ext uri="{FF2B5EF4-FFF2-40B4-BE49-F238E27FC236}">
                <a16:creationId xmlns:a16="http://schemas.microsoft.com/office/drawing/2014/main" id="{51720604-C967-2B93-B0F0-CE303D81DA37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E2E49FFE-DCB0-0E40-B92A-07BCDB3ABEBE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2A4B233-7F09-4251-EA81-C236B8724462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attention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简介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950EE9F6-D395-D68F-78C5-CCFF5EEE8D8F}"/>
              </a:ext>
            </a:extLst>
          </p:cNvPr>
          <p:cNvSpPr/>
          <p:nvPr/>
        </p:nvSpPr>
        <p:spPr>
          <a:xfrm>
            <a:off x="138564" y="848265"/>
            <a:ext cx="1449051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085535-5A27-055F-8A10-D88C65469DAF}"/>
              </a:ext>
            </a:extLst>
          </p:cNvPr>
          <p:cNvSpPr/>
          <p:nvPr/>
        </p:nvSpPr>
        <p:spPr>
          <a:xfrm>
            <a:off x="138564" y="1276636"/>
            <a:ext cx="4160059" cy="2264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语言词元序列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高维含义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:encoder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高维含义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语言词元序列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:decoder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语言词元序列每个词元含义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多头注意力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(MHA)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语言已生成词元序列词元含义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掩码多头注意力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(MMHA)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6F3DC6-8573-93A3-A45B-6F77F9C75087}"/>
              </a:ext>
            </a:extLst>
          </p:cNvPr>
          <p:cNvSpPr txBox="1"/>
          <p:nvPr/>
        </p:nvSpPr>
        <p:spPr>
          <a:xfrm>
            <a:off x="129807" y="3728957"/>
            <a:ext cx="32261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A-B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语言词元序列关系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交叉注意力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(CMHA)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用法：序列输入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将会输出此序列下一词元的概率分布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348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0E8F-38A0-5F4E-1319-58DB9CF7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>
            <a:extLst>
              <a:ext uri="{FF2B5EF4-FFF2-40B4-BE49-F238E27FC236}">
                <a16:creationId xmlns:a16="http://schemas.microsoft.com/office/drawing/2014/main" id="{AC35A297-AD04-4727-0F72-6588D7CCF620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B5DB00DF-B242-F02E-321D-8AA318F769E5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9C2B08A-7892-90EA-6FDB-0387635485DB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attention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简介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9C629A3C-E3F0-B488-007B-1011265F1213}"/>
              </a:ext>
            </a:extLst>
          </p:cNvPr>
          <p:cNvSpPr/>
          <p:nvPr/>
        </p:nvSpPr>
        <p:spPr>
          <a:xfrm>
            <a:off x="138564" y="848265"/>
            <a:ext cx="1139158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0AAC6A-CD09-CCAA-602F-50D579757C12}"/>
              </a:ext>
            </a:extLst>
          </p:cNvPr>
          <p:cNvSpPr/>
          <p:nvPr/>
        </p:nvSpPr>
        <p:spPr>
          <a:xfrm>
            <a:off x="206041" y="1266456"/>
            <a:ext cx="3714018" cy="4850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目的：找出序列中词元之间的关系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掩码：防止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decoder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训练时“看到”不因看到的词元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交叉注意力：两个序列之间的关系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query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QKT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：一个词元查询其与其他词元关系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：将查询到的关系用于改变本词元向量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输出的矩阵每一行对应一个词元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输出矩阵每一行对应序列开头到此行对应词元的全部含义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BEE6E3F-1A7D-3339-9FC7-507173CE3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81" y="2447047"/>
            <a:ext cx="3978111" cy="3985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B4D479-2FEF-4535-E7AC-3E6C02E4DB01}"/>
                  </a:ext>
                </a:extLst>
              </p:cNvPr>
              <p:cNvSpPr txBox="1"/>
              <p:nvPr/>
            </p:nvSpPr>
            <p:spPr>
              <a:xfrm>
                <a:off x="3987537" y="1480822"/>
                <a:ext cx="5170040" cy="937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ttention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B4D479-2FEF-4535-E7AC-3E6C02E4D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37" y="1480822"/>
                <a:ext cx="5170040" cy="9373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25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1975-7481-5696-55E5-745F903C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>
            <a:extLst>
              <a:ext uri="{FF2B5EF4-FFF2-40B4-BE49-F238E27FC236}">
                <a16:creationId xmlns:a16="http://schemas.microsoft.com/office/drawing/2014/main" id="{F68CBB26-BA3D-C7E5-026F-E1799F01B77A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E7B012FC-6349-60C7-4A0E-17CCF07BF440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03E20A2-F3A7-0B25-84EE-35D8E7735A43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attention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简介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E65FFD03-8181-254B-03A9-1D8840D26921}"/>
              </a:ext>
            </a:extLst>
          </p:cNvPr>
          <p:cNvSpPr/>
          <p:nvPr/>
        </p:nvSpPr>
        <p:spPr>
          <a:xfrm>
            <a:off x="138564" y="848265"/>
            <a:ext cx="1119217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6BF643-438A-9CC8-930B-6C6E8D3EF669}"/>
              </a:ext>
            </a:extLst>
          </p:cNvPr>
          <p:cNvSpPr/>
          <p:nvPr/>
        </p:nvSpPr>
        <p:spPr>
          <a:xfrm>
            <a:off x="293866" y="1266456"/>
            <a:ext cx="8342957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decoder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，得到下一个词元概率预测仅需要本词元的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及所有词元对应的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避免重复计算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矩阵存储起来，即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F376A2-5730-B3FE-BA3C-4328D229F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064" y="2333289"/>
            <a:ext cx="4717871" cy="443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9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A0800-6455-C3BB-8AE9-869158454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>
            <a:extLst>
              <a:ext uri="{FF2B5EF4-FFF2-40B4-BE49-F238E27FC236}">
                <a16:creationId xmlns:a16="http://schemas.microsoft.com/office/drawing/2014/main" id="{39C0D95D-ACAC-BBA9-B1EF-80DB792F1301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353EDB1A-41E5-C35C-C4B6-F12E62B7BB9D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5FA83C8-47E9-3732-C021-06B7DFD1B37B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Flash attention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997E27E4-1CC4-973B-B916-07F42F623DB5}"/>
              </a:ext>
            </a:extLst>
          </p:cNvPr>
          <p:cNvSpPr/>
          <p:nvPr/>
        </p:nvSpPr>
        <p:spPr>
          <a:xfrm>
            <a:off x="138564" y="848265"/>
            <a:ext cx="1727461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attention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97A8E3-2D2E-250D-A7EA-FA49FDA86513}"/>
              </a:ext>
            </a:extLst>
          </p:cNvPr>
          <p:cNvSpPr/>
          <p:nvPr/>
        </p:nvSpPr>
        <p:spPr>
          <a:xfrm>
            <a:off x="293866" y="1266456"/>
            <a:ext cx="8342957" cy="3372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参考资料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LLM-Flash Attention】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说起，保姆级超长文！！（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https://zhuanlan.zhihu.com/p/663932651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FlashAttention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Fast and Memory-Efficient Exact Attention with IO-Awareness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https://arxiv.org/abs/2205.14135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计算过程分析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68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F6BD-C1B6-C4ED-8ADA-CEA8BB03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>
            <a:extLst>
              <a:ext uri="{FF2B5EF4-FFF2-40B4-BE49-F238E27FC236}">
                <a16:creationId xmlns:a16="http://schemas.microsoft.com/office/drawing/2014/main" id="{5DEDBA9B-2C45-2A61-530E-D5CDDEC6EA3E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776CBBAC-06ED-1169-5F71-F21B0AE6D950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AC4EBA7-178E-4AFC-99E7-E65A759D40B0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Flash attention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FAA11E94-B9A6-F325-8CF5-4415B7CBE74F}"/>
              </a:ext>
            </a:extLst>
          </p:cNvPr>
          <p:cNvSpPr/>
          <p:nvPr/>
        </p:nvSpPr>
        <p:spPr>
          <a:xfrm>
            <a:off x="138564" y="848265"/>
            <a:ext cx="2558201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计算过程分析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546206-5FB7-52C4-3927-E69BC1A6F959}"/>
              </a:ext>
            </a:extLst>
          </p:cNvPr>
          <p:cNvSpPr/>
          <p:nvPr/>
        </p:nvSpPr>
        <p:spPr>
          <a:xfrm>
            <a:off x="273519" y="1193111"/>
            <a:ext cx="8342957" cy="3003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Q,K,V,O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矩阵均为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大小矩阵，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(N,N)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常规计算方案：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利用一般矩阵乘法计算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sz="1600" b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利用一般矩阵乘法计算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常规计算方案的问题：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中间过程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global memory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中，占用大量显存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计算过程中要反复访问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global memory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DBD8743-BF4C-98BF-4C82-3C7960410C29}"/>
                  </a:ext>
                </a:extLst>
              </p:cNvPr>
              <p:cNvSpPr txBox="1"/>
              <p:nvPr/>
            </p:nvSpPr>
            <p:spPr>
              <a:xfrm>
                <a:off x="800240" y="4196626"/>
                <a:ext cx="6826043" cy="2489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ttention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altLang="zh-CN" sz="2400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0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Q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rad>
                        </m:den>
                      </m:f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+mn-ea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0" dirty="0">
                          <a:latin typeface="Cambria Math" panose="02040503050406030204" pitchFamily="18" charset="0"/>
                        </a:rPr>
                        <m:t>soft</m:t>
                      </m:r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 dirty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i="0" dirty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0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400" i="0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 dirty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i="0" dirty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400" i="0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DBD8743-BF4C-98BF-4C82-3C7960410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40" y="4196626"/>
                <a:ext cx="6826043" cy="24897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45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3F231-613B-71AB-2B3C-674F90C6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>
            <a:extLst>
              <a:ext uri="{FF2B5EF4-FFF2-40B4-BE49-F238E27FC236}">
                <a16:creationId xmlns:a16="http://schemas.microsoft.com/office/drawing/2014/main" id="{3258C2F2-F858-7CC8-65A1-A833678F302B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9678A40D-A9D5-8A8B-7451-FBEDB0C01CFB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DA4CF41-4221-A3EE-45F7-CE096D8DCAFB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Flash attention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52CA9847-AFB1-B49D-3087-9F1C2FB53956}"/>
              </a:ext>
            </a:extLst>
          </p:cNvPr>
          <p:cNvSpPr/>
          <p:nvPr/>
        </p:nvSpPr>
        <p:spPr>
          <a:xfrm>
            <a:off x="138564" y="848265"/>
            <a:ext cx="2558201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计算过程分析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9991FE3-6F47-6F38-F5CD-F87E8353533E}"/>
                  </a:ext>
                </a:extLst>
              </p:cNvPr>
              <p:cNvSpPr/>
              <p:nvPr/>
            </p:nvSpPr>
            <p:spPr>
              <a:xfrm>
                <a:off x="273519" y="1193111"/>
                <a:ext cx="8342957" cy="5362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改进思路：能否合并计算，不生成全部的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S(P)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矩阵就完成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attention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计算？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方案：对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矩阵分块，每次仅计算需要的一小块。同时可将所有数据搬入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shared memory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减少对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global memory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的访问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问题：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softmax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操作涉及矩阵每行，需要处理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先忽略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sqrt(d)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因子及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softmax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涉及的数值稳定性因子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，注意到：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Q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Q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为对角阵，每个元素为每行的归一化因子。于是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可以表示为：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Q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altLang="en-US" sz="2400" i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Q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altLang="zh-CN" sz="24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的每个元素仅需要对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exp(S)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矩阵每行求和即可，而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exp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操作与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sqrt(d)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因子均为对单个元素的操作。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 startAt="5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对含数值稳定因子的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softmax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，可以先对一小块求小块的稳定因子，后续两小块合并时仅需对算出的值乘上一个小于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的值即可得到两小块合并的数值稳定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softmax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结果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9991FE3-6F47-6F38-F5CD-F87E835353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19" y="1193111"/>
                <a:ext cx="8342957" cy="5362109"/>
              </a:xfrm>
              <a:prstGeom prst="rect">
                <a:avLst/>
              </a:prstGeom>
              <a:blipFill>
                <a:blip r:embed="rId3"/>
                <a:stretch>
                  <a:fillRect l="-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49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004C-751B-18B3-9A5B-1F660C18F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9866672-7531-FF0E-D0CC-2B4BC1232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225" y="1266456"/>
            <a:ext cx="4447651" cy="5161616"/>
          </a:xfrm>
          <a:prstGeom prst="rect">
            <a:avLst/>
          </a:prstGeom>
        </p:spPr>
      </p:pic>
      <p:grpSp>
        <p:nvGrpSpPr>
          <p:cNvPr id="16" name="组合 52">
            <a:extLst>
              <a:ext uri="{FF2B5EF4-FFF2-40B4-BE49-F238E27FC236}">
                <a16:creationId xmlns:a16="http://schemas.microsoft.com/office/drawing/2014/main" id="{8723AA05-B501-8821-0AFF-6D5338D8A6EB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64213C20-913F-9F5B-1C0E-65F7E7A28A0E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77A4E5D-AA41-63EB-3486-4F68004EBBED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Flash attention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C724E942-ED9D-F14D-E413-00432F8E1811}"/>
              </a:ext>
            </a:extLst>
          </p:cNvPr>
          <p:cNvSpPr/>
          <p:nvPr/>
        </p:nvSpPr>
        <p:spPr>
          <a:xfrm>
            <a:off x="138564" y="848265"/>
            <a:ext cx="2137829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attention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742735-C1E7-4151-EBF7-D28A33DE60C8}"/>
              </a:ext>
            </a:extLst>
          </p:cNvPr>
          <p:cNvSpPr/>
          <p:nvPr/>
        </p:nvSpPr>
        <p:spPr>
          <a:xfrm>
            <a:off x="10274" y="1279147"/>
            <a:ext cx="6823371" cy="2264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如图所示，将所有有颜色部分放入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 memory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计算方法：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先计算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小块乘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小块得到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小块做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safe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，同时记录更新必要统计因子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小块乘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小块得到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BAE6A7-5E85-36FA-1563-E94AA0DE7C58}"/>
              </a:ext>
            </a:extLst>
          </p:cNvPr>
          <p:cNvSpPr txBox="1"/>
          <p:nvPr/>
        </p:nvSpPr>
        <p:spPr>
          <a:xfrm>
            <a:off x="0" y="3251610"/>
            <a:ext cx="421378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内层对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矩阵循环，外层对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循环。即算完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小块后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小块不动，搬入新的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小块继续计算直到搬到最后一块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小块。此时下一步才搬入新的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小块，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小块则从头搬入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算法对每个头启动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个线程，这些线程如上所述完成计算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 startAt="3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36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204B-7C6A-50DC-C728-CED1098CD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4E9E9E1-402E-50B2-C78A-94517E669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0225" y="1266456"/>
            <a:ext cx="4447650" cy="5161616"/>
          </a:xfrm>
          <a:prstGeom prst="rect">
            <a:avLst/>
          </a:prstGeom>
        </p:spPr>
      </p:pic>
      <p:grpSp>
        <p:nvGrpSpPr>
          <p:cNvPr id="16" name="组合 52">
            <a:extLst>
              <a:ext uri="{FF2B5EF4-FFF2-40B4-BE49-F238E27FC236}">
                <a16:creationId xmlns:a16="http://schemas.microsoft.com/office/drawing/2014/main" id="{B0402C2A-B4A4-2E56-061A-17178BBD15AF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8C375287-A20A-6F3D-A099-CB49EAAAB3B3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4D9F273-9196-E47A-0E7D-3E3482F877ED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–</a:t>
              </a:r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Flash attention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CFACF8D8-15A8-A8EC-E2B4-92DF02B68BBD}"/>
              </a:ext>
            </a:extLst>
          </p:cNvPr>
          <p:cNvSpPr/>
          <p:nvPr/>
        </p:nvSpPr>
        <p:spPr>
          <a:xfrm>
            <a:off x="138564" y="848265"/>
            <a:ext cx="2992229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B93F67-4FD4-EBE7-5CF1-E646E250E27F}"/>
              </a:ext>
            </a:extLst>
          </p:cNvPr>
          <p:cNvSpPr/>
          <p:nvPr/>
        </p:nvSpPr>
        <p:spPr>
          <a:xfrm>
            <a:off x="10274" y="1279147"/>
            <a:ext cx="6823371" cy="2264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算法涉及多个注意力头的计算，且每个头计算类似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原始算法涉及较为复杂的安全</a:t>
            </a:r>
            <a:r>
              <a:rPr lang="en-US" altLang="zh-CN" sz="1600" b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及其统计量更新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为此，使用不安全的</a:t>
            </a:r>
            <a:r>
              <a:rPr lang="en-US" altLang="zh-CN" sz="1600" b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，且仅考虑一个头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为加速计算，启动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个而非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个线程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分块仍保持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算法的方案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设定</a:t>
            </a:r>
            <a:r>
              <a:rPr lang="en-US" altLang="zh-CN" sz="1600" b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=Br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D916032-B34D-1D17-18A3-B1082E94C9C6}"/>
              </a:ext>
            </a:extLst>
          </p:cNvPr>
          <p:cNvSpPr txBox="1"/>
          <p:nvPr/>
        </p:nvSpPr>
        <p:spPr>
          <a:xfrm>
            <a:off x="0" y="3556689"/>
            <a:ext cx="38301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提示：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先确保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矩阵计算正确，再确保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矩阵计算正确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使用常规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函数，即不需要考虑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操作而仅需取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</a:p>
          <a:p>
            <a:pPr marL="342900" indent="-342900"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注意需要求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对应的归一化矩阵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959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9EDB-D77F-2255-9DBC-A1F4B046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>
            <a:extLst>
              <a:ext uri="{FF2B5EF4-FFF2-40B4-BE49-F238E27FC236}">
                <a16:creationId xmlns:a16="http://schemas.microsoft.com/office/drawing/2014/main" id="{3FBFAEF9-B9EB-4409-8E03-616C59897AC3}"/>
              </a:ext>
            </a:extLst>
          </p:cNvPr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>
              <a:extLst>
                <a:ext uri="{FF2B5EF4-FFF2-40B4-BE49-F238E27FC236}">
                  <a16:creationId xmlns:a16="http://schemas.microsoft.com/office/drawing/2014/main" id="{D08C438C-6280-8802-3C97-79F16A019464}"/>
                </a:ext>
              </a:extLst>
            </p:cNvPr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72528AC-3099-646D-95DD-4ED0B5C07155}"/>
                </a:ext>
              </a:extLst>
            </p:cNvPr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C5270FD2-CD9C-1364-239E-F476C284D0CA}"/>
              </a:ext>
            </a:extLst>
          </p:cNvPr>
          <p:cNvSpPr/>
          <p:nvPr/>
        </p:nvSpPr>
        <p:spPr>
          <a:xfrm>
            <a:off x="138564" y="848265"/>
            <a:ext cx="1005403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676E14-D92D-B019-AD4D-9B33745442BA}"/>
              </a:ext>
            </a:extLst>
          </p:cNvPr>
          <p:cNvSpPr txBox="1"/>
          <p:nvPr/>
        </p:nvSpPr>
        <p:spPr>
          <a:xfrm>
            <a:off x="159061" y="1306862"/>
            <a:ext cx="87115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可认为较小，推荐设为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=Br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，可以设置为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应该能通过正确性检查，即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的每个元素满足：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abs((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cal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]-true[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])/true[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])&lt;1e-4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正确性检查要求使用随机矩阵，元素大小在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范围内，序列长度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1024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通过正确性检查后你实现的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应该能对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较大的输入序列进行正常计算。要求输入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对应的中间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矩阵大小应该超过显存大小，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推荐设为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262144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。你同时应该对你实现的算法计时。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助教程序的运行结果：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l: 262144   time: 11859.847656250</a:t>
            </a:r>
          </a:p>
        </p:txBody>
      </p:sp>
    </p:spTree>
    <p:extLst>
      <p:ext uri="{BB962C8B-B14F-4D97-AF65-F5344CB8AC3E}">
        <p14:creationId xmlns:p14="http://schemas.microsoft.com/office/powerpoint/2010/main" val="387075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/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/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 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38564" y="848265"/>
            <a:ext cx="1005403" cy="41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651A55-6B77-DC50-78CE-115155A73604}"/>
              </a:ext>
            </a:extLst>
          </p:cNvPr>
          <p:cNvSpPr txBox="1"/>
          <p:nvPr/>
        </p:nvSpPr>
        <p:spPr>
          <a:xfrm>
            <a:off x="159061" y="1306862"/>
            <a:ext cx="871156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报告问题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请问原始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attention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算法中能否将内层循环改为对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矩阵操作？请说明你变动后算法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矩阵的搬运过程及这样做的好处与坏处（提示：考虑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小块大小能如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Br,d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这样吗？请分析可能遇到的问题。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个线程相比原始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attention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对矩阵分块的复用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有什么影响？请详细分析。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你实现的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运行速度比利用传统矩阵乘法实现的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慢。请分析原因并给出改进方案及方案面临的困难。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提交要求：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提交你的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的源代码。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应该能通过正确性检查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 head Flash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必须能在中间矩阵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大小超过显存的条件下完成计算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2"/>
          <p:cNvGrpSpPr/>
          <p:nvPr/>
        </p:nvGrpSpPr>
        <p:grpSpPr>
          <a:xfrm>
            <a:off x="138564" y="279057"/>
            <a:ext cx="6293973" cy="253916"/>
            <a:chOff x="5637082" y="1769183"/>
            <a:chExt cx="4430606" cy="451405"/>
          </a:xfrm>
        </p:grpSpPr>
        <p:sp>
          <p:nvSpPr>
            <p:cNvPr id="17" name="等腰三角形 53"/>
            <p:cNvSpPr/>
            <p:nvPr/>
          </p:nvSpPr>
          <p:spPr>
            <a:xfrm rot="5400000">
              <a:off x="5562941" y="1938259"/>
              <a:ext cx="243283" cy="9500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2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 flipH="1">
              <a:off x="5746406" y="1769183"/>
              <a:ext cx="4321282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Lab6</a:t>
              </a:r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实验讲解</a:t>
              </a:r>
              <a:endPara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093344" y="3057007"/>
            <a:ext cx="957313" cy="743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7"/>
    </mc:Choice>
    <mc:Fallback xmlns="">
      <p:transition spd="slow" advTm="1395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6403ab5-2771-48d9-a64f-9fcbea9a3753"/>
  <p:tag name="COMMONDATA" val="eyJoZGlkIjoiMGEyZjkzNGEwNTNjYzVmMWZiYWQ2MTU2ZjExMThiOW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858</TotalTime>
  <Words>1334</Words>
  <Application>Microsoft Office PowerPoint</Application>
  <PresentationFormat>全屏显示(4:3)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-apple-system</vt:lpstr>
      <vt:lpstr>等线</vt:lpstr>
      <vt:lpstr>微软雅黑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Guoliang You</dc:creator>
  <cp:lastModifiedBy>user0</cp:lastModifiedBy>
  <cp:revision>601</cp:revision>
  <dcterms:created xsi:type="dcterms:W3CDTF">2022-05-19T07:54:00Z</dcterms:created>
  <dcterms:modified xsi:type="dcterms:W3CDTF">2025-05-20T08:25:26Z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D140B00B8DF5478EAA02428A9A75AF18_12</vt:lpwstr>
  </property>
  <property fmtid="{D5CDD505-2E9C-101B-9397-08002B2CF9AE}" pid="3" name="KSOProductBuildVer">
    <vt:lpwstr>2052-11.1.0.14309</vt:lpwstr>
  </property>
</Properties>
</file>